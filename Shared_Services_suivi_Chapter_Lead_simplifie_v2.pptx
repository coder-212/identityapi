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Services — capacité &amp; rôles cible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11292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Objectif du point Chapter Lead : clarifier les responsabilités, la capacité actuelle et les rôles à sécuriser.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2377440" cy="310896"/>
          </a:xfrm>
          <a:prstGeom prst="rect">
            <a:avLst/>
          </a:prstGeom>
          <a:solidFill>
            <a:srgbClr val="123A59"/>
          </a:solidFill>
          <a:ln>
            <a:solidFill>
              <a:srgbClr val="123A5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Rôle / capacité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71800" y="1051560"/>
            <a:ext cx="6172200" cy="310896"/>
          </a:xfrm>
          <a:prstGeom prst="rect">
            <a:avLst/>
          </a:prstGeom>
          <a:solidFill>
            <a:srgbClr val="123A59"/>
          </a:solidFill>
          <a:ln>
            <a:solidFill>
              <a:srgbClr val="123A5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Mission principale dans l’équipe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81160" y="1051560"/>
            <a:ext cx="2240280" cy="310896"/>
          </a:xfrm>
          <a:prstGeom prst="rect">
            <a:avLst/>
          </a:prstGeom>
          <a:solidFill>
            <a:srgbClr val="123A59"/>
          </a:solidFill>
          <a:ln>
            <a:solidFill>
              <a:srgbClr val="123A5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Projection capacité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377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A59"/>
                </a:solidFill>
              </a:rPr>
              <a:t>Lead Shared Services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2971800" y="1444752"/>
            <a:ext cx="6172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Pilotage technique, priorisation, coordination avec squads et Chapter Lead.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81160" y="1444752"/>
            <a:ext cx="224028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Socle existant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2377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A59"/>
                </a:solidFill>
              </a:rPr>
              <a:t>DevOps / Platform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971800" y="2057400"/>
            <a:ext cx="6172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BAI, CI/CD, run, monitoring, accompagnement squads, fiabilisation.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81160" y="2057400"/>
            <a:ext cx="224028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consolider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2377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A59"/>
                </a:solidFill>
              </a:rPr>
              <a:t>Security / SecOps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971800" y="2670048"/>
            <a:ext cx="6172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Veille, recommandations, remédiation scans, Akamai, DAST, obsolescence.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81160" y="2670048"/>
            <a:ext cx="224028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Rôle à renforcer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282696"/>
            <a:ext cx="2377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A59"/>
                </a:solidFill>
              </a:rPr>
              <a:t>Azure / Infra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971800" y="3282696"/>
            <a:ext cx="6172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DR, patching, capacity planning, FinOps, Key Vault, passation d’activité.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81160" y="3282696"/>
            <a:ext cx="22402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Équipe existante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895344"/>
            <a:ext cx="2377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A59"/>
                </a:solidFill>
              </a:rPr>
              <a:t>Développeur Shared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2971800" y="3895344"/>
            <a:ext cx="6172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</a:rPr>
              <a:t>Maintenance, évolution et réduction de dette des composants partagés.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81160" y="3895344"/>
            <a:ext cx="2240280" cy="502920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Besoin futur</a:t>
            </a:r>
            <a:endParaRPr lang="en-US" sz="1050" dirty="0"/>
          </a:p>
        </p:txBody>
      </p:sp>
      <p:sp>
        <p:nvSpPr>
          <p:cNvPr id="22" name="Rounded Rectangle 21"/>
          <p:cNvSpPr/>
          <p:nvPr/>
        </p:nvSpPr>
        <p:spPr>
          <a:xfrm>
            <a:off x="502920" y="4892040"/>
            <a:ext cx="110185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82296" bIns="73152"/>
          <a:lstStyle/>
          <a:p>
            <a:pPr algn="ctr"/>
            <a:r>
              <a:rPr sz="1200" b="1">
                <a:solidFill>
                  <a:srgbClr val="1F4E78"/>
                </a:solidFill>
                <a:latin typeface="Aptos"/>
              </a:rPr>
              <a:t>Focus du point Chapter Lead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62626"/>
                </a:solidFill>
                <a:latin typeface="Aptos"/>
              </a:rPr>
              <a:t>Confirmer la capacité cible • sécuriser les rôles clés • identifier les arbitrages ou dépendances à escalader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technique — vision de suivi Chapter Lead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11292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Une vue de pilotage par axe : avancement, risques, dépendances et décisions à prendre.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15568"/>
            <a:ext cx="5532120" cy="1874519"/>
          </a:xfrm>
          <a:prstGeom prst="rect">
            <a:avLst/>
          </a:prstGeom>
          <a:solidFill>
            <a:srgbClr val="FFF5F5"/>
          </a:solidFill>
          <a:ln w="13970">
            <a:solidFill>
              <a:srgbClr val="C00000"/>
            </a:solidFill>
          </a:ln>
        </p:spPr>
        <p:txBody>
          <a:bodyPr wrap="square" lIns="118872" tIns="91440" rIns="118872" bIns="73152" rtlCol="0" anchor="t">
            <a:normAutofit/>
          </a:bodyPr>
          <a:lstStyle/>
          <a:p>
            <a:pPr indent="0" marL="0">
              <a:buNone/>
            </a:pPr>
            <a:r>
              <a:rPr lang="en-US" sz="1200" dirty="0" b="1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 &amp; obsolescence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Agrégateur de scans et score applicatif global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gates progressifs sur le stock de vulnérabilités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Remédiation SAST / SCA / DAST, Akamai, obsolescence</a:t>
            </a:r>
            <a:endParaRPr lang="en-US" sz="108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115568"/>
            <a:ext cx="5532120" cy="1874519"/>
          </a:xfrm>
          <a:prstGeom prst="rect">
            <a:avLst/>
          </a:prstGeom>
          <a:solidFill>
            <a:srgbClr val="EEF5FF"/>
          </a:solidFill>
          <a:ln w="13970">
            <a:solidFill>
              <a:srgbClr val="2E75B6"/>
            </a:solidFill>
          </a:ln>
        </p:spPr>
        <p:txBody>
          <a:bodyPr wrap="square" lIns="118872" tIns="91440" rIns="118872" bIns="73152" rtlCol="0" anchor="t">
            <a:normAutofit/>
          </a:bodyPr>
          <a:lstStyle/>
          <a:p>
            <a:pPr indent="0" marL="0">
              <a:buNone/>
            </a:pPr>
            <a:r>
              <a:rPr lang="en-US" sz="1200" dirty="0" b="1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&amp; infrastructure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Exercice DR, patching infra régulier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Capacity planning, sizing, optimisation coûts / FinOps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Vault, exploitation Azure SharePoint, passation activité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91840"/>
            <a:ext cx="5532120" cy="1828800"/>
          </a:xfrm>
          <a:prstGeom prst="rect">
            <a:avLst/>
          </a:prstGeom>
          <a:solidFill>
            <a:srgbClr val="F3F0FA"/>
          </a:solidFill>
          <a:ln w="13970">
            <a:solidFill>
              <a:srgbClr val="8064A2"/>
            </a:solidFill>
          </a:ln>
        </p:spPr>
        <p:txBody>
          <a:bodyPr wrap="square" lIns="118872" tIns="91440" rIns="118872" bIns="73152" rtlCol="0" anchor="t">
            <a:normAutofit/>
          </a:bodyPr>
          <a:lstStyle/>
          <a:p>
            <a:pPr indent="0" marL="0">
              <a:buNone/>
            </a:pPr>
            <a:r>
              <a:rPr sz="1200" b="1">
                <a:latin typeface="Aptos"/>
              </a:rPr>
              <a:t>Roadmap Shared Services</a:t>
            </a:r>
            <a:endParaRPr lang="en-US" sz="1080" dirty="0"/>
          </a:p>
          <a:p>
            <a:pPr/>
            <a:r>
              <a:rPr sz="1030" b="0">
                <a:latin typeface="Aptos"/>
              </a:rPr>
              <a:t>• Remédiation des scans de sécurité Shared Services</a:t>
            </a:r>
          </a:p>
          <a:p>
            <a:pPr/>
            <a:r>
              <a:rPr sz="1030" b="0">
                <a:latin typeface="Aptos"/>
              </a:rPr>
              <a:t>• Industrialisation de l’auto-scaling</a:t>
            </a:r>
          </a:p>
          <a:p>
            <a:pPr/>
            <a:r>
              <a:rPr sz="1030" b="0">
                <a:latin typeface="Aptos"/>
              </a:rPr>
              <a:t>• Tests fonctionnels automatisés des API</a:t>
            </a:r>
          </a:p>
          <a:p>
            <a:pPr/>
            <a:r>
              <a:rPr sz="1030" b="0">
                <a:latin typeface="Aptos"/>
              </a:rPr>
              <a:t>• Maintenance et évolution des composants partagés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172200" y="3291840"/>
            <a:ext cx="5532120" cy="1828800"/>
          </a:xfrm>
          <a:prstGeom prst="rect">
            <a:avLst/>
          </a:prstGeom>
          <a:solidFill>
            <a:srgbClr val="F0FAFA"/>
          </a:solidFill>
          <a:ln w="13970">
            <a:solidFill>
              <a:srgbClr val="00A6A6"/>
            </a:solidFill>
          </a:ln>
        </p:spPr>
        <p:txBody>
          <a:bodyPr wrap="square" lIns="118872" tIns="91440" rIns="118872" bIns="73152" rtlCol="0" anchor="t">
            <a:normAutofit/>
          </a:bodyPr>
          <a:lstStyle/>
          <a:p>
            <a:pPr indent="0" marL="0">
              <a:buNone/>
            </a:pPr>
            <a:r>
              <a:rPr lang="en-US" sz="1200" dirty="0" b="1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Transverse Tribe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Matrice de maturité applicative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Migration AAC : impacts, stratégie et accompagnement squads</a:t>
            </a:r>
            <a:endParaRPr lang="en-US" sz="1080" dirty="0"/>
          </a:p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Migration Secure Transport et mTLS machine-to-machine</a:t>
            </a:r>
            <a:endParaRPr lang="en-US" sz="1080"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5532120"/>
            <a:ext cx="112014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2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82296" bIns="73152"/>
          <a:lstStyle/>
          <a:p>
            <a:pPr algn="ctr"/>
            <a:r>
              <a:rPr sz="1200" b="1">
                <a:solidFill>
                  <a:srgbClr val="123A59"/>
                </a:solidFill>
                <a:latin typeface="Aptos"/>
              </a:rPr>
              <a:t>Format de suivi par epic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62626"/>
                </a:solidFill>
                <a:latin typeface="Aptos"/>
              </a:rPr>
              <a:t>Statut • prochaine étape • risque / blocage • besoin attendu du Chapter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Suivi Shared Services — Chapter Lead</dc:title>
  <dc:subject>Support de suivi Shared Services avec Chapter Lead</dc:subject>
  <dc:creator>OpenAI</dc:creator>
  <cp:lastModifiedBy>OpenAI</cp:lastModifiedBy>
  <cp:revision>1</cp:revision>
  <dcterms:created xsi:type="dcterms:W3CDTF">2026-09-01T20:43:57Z</dcterms:created>
  <dcterms:modified xsi:type="dcterms:W3CDTF">2026-09-01T20:43:57Z</dcterms:modified>
</cp:coreProperties>
</file>